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73" r:id="rId8"/>
    <p:sldId id="263" r:id="rId9"/>
    <p:sldId id="264" r:id="rId10"/>
    <p:sldId id="265" r:id="rId11"/>
    <p:sldId id="266" r:id="rId12"/>
    <p:sldId id="267" r:id="rId13"/>
    <p:sldId id="268" r:id="rId14"/>
    <p:sldId id="269" r:id="rId15"/>
    <p:sldId id="272" r:id="rId16"/>
    <p:sldId id="270" r:id="rId17"/>
    <p:sldId id="271"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2" roundtripDataSignature="AMtx7mgb3W1nguJpyLvdkVeio7GQyZY/L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063BE5B-8E01-4B91-9C5C-8479B17E1E5F}">
  <a:tblStyle styleId="{F063BE5B-8E01-4B91-9C5C-8479B17E1E5F}"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 name="Google Shape;76;p3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3" name="Google Shape;93;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3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9" name="Google Shape;99;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1" name="Google Shape;111;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9" name="Google Shape;12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5" name="Google Shape;135;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3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5" name="Google Shape;155;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4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9" name="Google Shape;179;p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6" name="Google Shape;186;p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3" name="Google Shape;193;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4" name="Google Shape;14;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3"/>
        <p:cNvGrpSpPr/>
        <p:nvPr/>
      </p:nvGrpSpPr>
      <p:grpSpPr>
        <a:xfrm>
          <a:off x="0" y="0"/>
          <a:ext cx="0" cy="0"/>
          <a:chOff x="0" y="0"/>
          <a:chExt cx="0" cy="0"/>
        </a:xfrm>
      </p:grpSpPr>
      <p:sp>
        <p:nvSpPr>
          <p:cNvPr id="24" name="Google Shape;24;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
        <p:cNvGrpSpPr/>
        <p:nvPr/>
      </p:nvGrpSpPr>
      <p:grpSpPr>
        <a:xfrm>
          <a:off x="0" y="0"/>
          <a:ext cx="0" cy="0"/>
          <a:chOff x="0" y="0"/>
          <a:chExt cx="0" cy="0"/>
        </a:xfrm>
      </p:grpSpPr>
      <p:sp>
        <p:nvSpPr>
          <p:cNvPr id="31" name="Google Shape;31;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3" name="Google Shape;33;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4" name="Google Shape;34;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5" name="Google Shape;35;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9"/>
        <p:cNvGrpSpPr/>
        <p:nvPr/>
      </p:nvGrpSpPr>
      <p:grpSpPr>
        <a:xfrm>
          <a:off x="0" y="0"/>
          <a:ext cx="0" cy="0"/>
          <a:chOff x="0" y="0"/>
          <a:chExt cx="0" cy="0"/>
        </a:xfrm>
      </p:grpSpPr>
      <p:sp>
        <p:nvSpPr>
          <p:cNvPr id="40" name="Google Shape;40;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4"/>
        <p:cNvGrpSpPr/>
        <p:nvPr/>
      </p:nvGrpSpPr>
      <p:grpSpPr>
        <a:xfrm>
          <a:off x="0" y="0"/>
          <a:ext cx="0" cy="0"/>
          <a:chOff x="0" y="0"/>
          <a:chExt cx="0" cy="0"/>
        </a:xfrm>
      </p:grpSpPr>
      <p:sp>
        <p:nvSpPr>
          <p:cNvPr id="45" name="Google Shape;45;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8"/>
        <p:cNvGrpSpPr/>
        <p:nvPr/>
      </p:nvGrpSpPr>
      <p:grpSpPr>
        <a:xfrm>
          <a:off x="0" y="0"/>
          <a:ext cx="0" cy="0"/>
          <a:chOff x="0" y="0"/>
          <a:chExt cx="0" cy="0"/>
        </a:xfrm>
      </p:grpSpPr>
      <p:sp>
        <p:nvSpPr>
          <p:cNvPr id="49" name="Google Shape;49;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1" name="Google Shape;51;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2" name="Google Shape;52;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5"/>
        <p:cNvGrpSpPr/>
        <p:nvPr/>
      </p:nvGrpSpPr>
      <p:grpSpPr>
        <a:xfrm>
          <a:off x="0" y="0"/>
          <a:ext cx="0" cy="0"/>
          <a:chOff x="0" y="0"/>
          <a:chExt cx="0" cy="0"/>
        </a:xfrm>
      </p:grpSpPr>
      <p:sp>
        <p:nvSpPr>
          <p:cNvPr id="56" name="Google Shape;56;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30"/>
          <p:cNvSpPr>
            <a:spLocks noGrp="1"/>
          </p:cNvSpPr>
          <p:nvPr>
            <p:ph type="pic" idx="2"/>
          </p:nvPr>
        </p:nvSpPr>
        <p:spPr>
          <a:xfrm>
            <a:off x="5183188" y="987425"/>
            <a:ext cx="6172200" cy="4873625"/>
          </a:xfrm>
          <a:prstGeom prst="rect">
            <a:avLst/>
          </a:prstGeom>
          <a:noFill/>
          <a:ln>
            <a:noFill/>
          </a:ln>
        </p:spPr>
      </p:sp>
      <p:sp>
        <p:nvSpPr>
          <p:cNvPr id="58" name="Google Shape;58;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9" name="Google Shape;59;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2"/>
        <p:cNvGrpSpPr/>
        <p:nvPr/>
      </p:nvGrpSpPr>
      <p:grpSpPr>
        <a:xfrm>
          <a:off x="0" y="0"/>
          <a:ext cx="0" cy="0"/>
          <a:chOff x="0" y="0"/>
          <a:chExt cx="0" cy="0"/>
        </a:xfrm>
      </p:grpSpPr>
      <p:sp>
        <p:nvSpPr>
          <p:cNvPr id="63" name="Google Shape;63;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8"/>
        <p:cNvGrpSpPr/>
        <p:nvPr/>
      </p:nvGrpSpPr>
      <p:grpSpPr>
        <a:xfrm>
          <a:off x="0" y="0"/>
          <a:ext cx="0" cy="0"/>
          <a:chOff x="0" y="0"/>
          <a:chExt cx="0" cy="0"/>
        </a:xfrm>
      </p:grpSpPr>
      <p:sp>
        <p:nvSpPr>
          <p:cNvPr id="69" name="Google Shape;69;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jpeg"/><Relationship Id="rId1" Type="http://schemas.openxmlformats.org/officeDocument/2006/relationships/slideLayout" Target="../slideLayouts/slideLayout5.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Ayush-Joshi1/GrantAI"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33"/>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SzPts val="6000"/>
              <a:buNone/>
            </a:pPr>
            <a:r>
              <a:rPr lang="en-US" sz="6600" b="1"/>
              <a:t>IBM University Engagement Project Submission</a:t>
            </a:r>
            <a:br>
              <a:rPr lang="en-US" b="1"/>
            </a:br>
            <a:endParaRPr/>
          </a:p>
        </p:txBody>
      </p:sp>
      <p:sp>
        <p:nvSpPr>
          <p:cNvPr id="79" name="Google Shape;79;p33"/>
          <p:cNvSpPr txBox="1">
            <a:spLocks noGrp="1"/>
          </p:cNvSpPr>
          <p:nvPr>
            <p:ph type="body" idx="1"/>
          </p:nvPr>
        </p:nvSpPr>
        <p:spPr>
          <a:xfrm>
            <a:off x="1014730" y="3903663"/>
            <a:ext cx="10515600" cy="1500187"/>
          </a:xfrm>
          <a:prstGeom prst="rect">
            <a:avLst/>
          </a:prstGeom>
          <a:noFill/>
          <a:ln>
            <a:noFill/>
          </a:ln>
        </p:spPr>
        <p:txBody>
          <a:bodyPr spcFirstLastPara="1" wrap="square" lIns="91425" tIns="45700" rIns="91425" bIns="45700" anchor="t" anchorCtr="0">
            <a:normAutofit/>
          </a:bodyPr>
          <a:lstStyle/>
          <a:p>
            <a:pPr marL="457200" lvl="0" indent="-228600" algn="ctr" rtl="0">
              <a:lnSpc>
                <a:spcPct val="90000"/>
              </a:lnSpc>
              <a:spcBef>
                <a:spcPts val="1000"/>
              </a:spcBef>
              <a:spcAft>
                <a:spcPts val="0"/>
              </a:spcAft>
              <a:buSzPts val="2400"/>
              <a:buNone/>
            </a:pPr>
            <a:r>
              <a:rPr lang="en-US" b="1" i="1"/>
              <a:t>“Exploring the Power of Agentic AI with IBM Granite and LangFlow”</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85" name="Google Shape;8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86" name="Google Shape;86;p2"/>
          <p:cNvGraphicFramePr/>
          <p:nvPr>
            <p:extLst>
              <p:ext uri="{D42A27DB-BD31-4B8C-83A1-F6EECF244321}">
                <p14:modId xmlns:p14="http://schemas.microsoft.com/office/powerpoint/2010/main" val="2221146042"/>
              </p:ext>
            </p:extLst>
          </p:nvPr>
        </p:nvGraphicFramePr>
        <p:xfrm>
          <a:off x="1299257" y="2600315"/>
          <a:ext cx="9395000" cy="2167125"/>
        </p:xfrm>
        <a:graphic>
          <a:graphicData uri="http://schemas.openxmlformats.org/drawingml/2006/table">
            <a:tbl>
              <a:tblPr>
                <a:noFill/>
                <a:tableStyleId>{F063BE5B-8E01-4B91-9C5C-8479B17E1E5F}</a:tableStyleId>
              </a:tblPr>
              <a:tblGrid>
                <a:gridCol w="2064875">
                  <a:extLst>
                    <a:ext uri="{9D8B030D-6E8A-4147-A177-3AD203B41FA5}">
                      <a16:colId xmlns:a16="http://schemas.microsoft.com/office/drawing/2014/main" val="20000"/>
                    </a:ext>
                  </a:extLst>
                </a:gridCol>
                <a:gridCol w="2443375">
                  <a:extLst>
                    <a:ext uri="{9D8B030D-6E8A-4147-A177-3AD203B41FA5}">
                      <a16:colId xmlns:a16="http://schemas.microsoft.com/office/drawing/2014/main" val="20001"/>
                    </a:ext>
                  </a:extLst>
                </a:gridCol>
                <a:gridCol w="2443375">
                  <a:extLst>
                    <a:ext uri="{9D8B030D-6E8A-4147-A177-3AD203B41FA5}">
                      <a16:colId xmlns:a16="http://schemas.microsoft.com/office/drawing/2014/main" val="20002"/>
                    </a:ext>
                  </a:extLst>
                </a:gridCol>
                <a:gridCol w="2443375">
                  <a:extLst>
                    <a:ext uri="{9D8B030D-6E8A-4147-A177-3AD203B41FA5}">
                      <a16:colId xmlns:a16="http://schemas.microsoft.com/office/drawing/2014/main" val="20003"/>
                    </a:ext>
                  </a:extLst>
                </a:gridCol>
              </a:tblGrid>
              <a:tr h="973225">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t>Recent Passport Photo</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Arial"/>
                          <a:cs typeface="Arial"/>
                          <a:sym typeface="Arial"/>
                        </a:rPr>
                        <a:t>Email ID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Mobile number</a:t>
                      </a:r>
                      <a:endParaRPr sz="18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Arial"/>
                          <a:cs typeface="Arial"/>
                          <a:sym typeface="Arial"/>
                        </a:rPr>
                        <a:t>[WhatsApp] </a:t>
                      </a:r>
                      <a:endParaRPr sz="1800" b="0" i="0" u="none" strike="noStrike" cap="none">
                        <a:solidFill>
                          <a:srgbClr val="000000"/>
                        </a:solidFill>
                        <a:latin typeface="Arial"/>
                        <a:ea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900">
                <a:tc>
                  <a:txBody>
                    <a:bodyPr/>
                    <a:lstStyle/>
                    <a:p>
                      <a:pPr marL="0" marR="0" lvl="0" indent="0" algn="l" rtl="0">
                        <a:lnSpc>
                          <a:spcPct val="100000"/>
                        </a:lnSpc>
                        <a:spcBef>
                          <a:spcPts val="0"/>
                        </a:spcBef>
                        <a:spcAft>
                          <a:spcPts val="0"/>
                        </a:spcAft>
                        <a:buClr>
                          <a:srgbClr val="000000"/>
                        </a:buClr>
                        <a:buSzPts val="1400"/>
                        <a:buFont typeface="Arial"/>
                        <a:buNone/>
                      </a:pPr>
                      <a:r>
                        <a:rPr lang="en-IN" sz="2800" u="none" strike="noStrike" cap="none" dirty="0"/>
                        <a:t>Ayush Joshi</a:t>
                      </a:r>
                      <a:endParaRPr sz="28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2000" u="none" strike="noStrike" cap="none" dirty="0"/>
                        <a:t>ayush.joshi2402@gmail.com</a:t>
                      </a:r>
                      <a:endParaRPr sz="20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2000" u="none" strike="noStrike" cap="none" dirty="0"/>
                        <a:t>7350131757</a:t>
                      </a:r>
                      <a:endParaRPr sz="2000" u="none" strike="noStrike" cap="none"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87" name="Google Shape;87;p2"/>
          <p:cNvPicPr preferRelativeResize="0"/>
          <p:nvPr/>
        </p:nvPicPr>
        <p:blipFill>
          <a:blip r:embed="rId3"/>
          <a:srcRect/>
          <a:stretch/>
        </p:blipFill>
        <p:spPr>
          <a:xfrm>
            <a:off x="4151013" y="3738417"/>
            <a:ext cx="741498" cy="886183"/>
          </a:xfrm>
          <a:prstGeom prst="rect">
            <a:avLst/>
          </a:prstGeom>
          <a:noFill/>
          <a:ln>
            <a:noFill/>
          </a:ln>
        </p:spPr>
      </p:pic>
      <p:sp>
        <p:nvSpPr>
          <p:cNvPr id="88" name="Google Shape;88;p2"/>
          <p:cNvSpPr txBox="1"/>
          <p:nvPr/>
        </p:nvSpPr>
        <p:spPr>
          <a:xfrm>
            <a:off x="1206162" y="1506032"/>
            <a:ext cx="10280254" cy="52318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Domain of  Project – </a:t>
            </a:r>
            <a:r>
              <a:rPr lang="en-IN" sz="2800" b="1" dirty="0"/>
              <a:t>Artificial Intelligence / </a:t>
            </a:r>
            <a:r>
              <a:rPr lang="en-IN" sz="2800" b="1" dirty="0" err="1"/>
              <a:t>Startup</a:t>
            </a:r>
            <a:r>
              <a:rPr lang="en-IN" sz="2800" b="1" dirty="0"/>
              <a:t> Ecosystem</a:t>
            </a:r>
            <a:endParaRPr sz="2800" b="1" i="0" u="none" strike="noStrike" cap="none" dirty="0">
              <a:solidFill>
                <a:srgbClr val="000000"/>
              </a:solidFill>
              <a:highlight>
                <a:srgbClr val="FFFF00"/>
              </a:highlight>
              <a:latin typeface="Arial"/>
              <a:ea typeface="Arial"/>
              <a:cs typeface="Arial"/>
              <a:sym typeface="Arial"/>
            </a:endParaRPr>
          </a:p>
        </p:txBody>
      </p:sp>
      <p:sp>
        <p:nvSpPr>
          <p:cNvPr id="89" name="Google Shape;89;p2"/>
          <p:cNvSpPr txBox="1"/>
          <p:nvPr/>
        </p:nvSpPr>
        <p:spPr>
          <a:xfrm>
            <a:off x="1206162" y="551965"/>
            <a:ext cx="9581177" cy="95406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dirty="0">
                <a:solidFill>
                  <a:srgbClr val="000000"/>
                </a:solidFill>
                <a:latin typeface="Arial"/>
                <a:ea typeface="Arial"/>
                <a:cs typeface="Arial"/>
                <a:sym typeface="Arial"/>
              </a:rPr>
              <a:t>Project Title – </a:t>
            </a:r>
            <a:r>
              <a:rPr lang="en-IN" sz="2800" b="1" dirty="0" err="1"/>
              <a:t>GrantAI</a:t>
            </a:r>
            <a:r>
              <a:rPr lang="en-IN" sz="2800" b="1" dirty="0"/>
              <a:t> : Agentic AI Grant and Funding Finder for </a:t>
            </a:r>
            <a:r>
              <a:rPr lang="en-IN" sz="2800" b="1" dirty="0" err="1"/>
              <a:t>Startups</a:t>
            </a:r>
            <a:endParaRPr sz="2800" b="1" i="0" u="none" strike="noStrike" cap="none" dirty="0">
              <a:solidFill>
                <a:srgbClr val="000000"/>
              </a:solidFill>
              <a:highlight>
                <a:srgbClr val="FFFF00"/>
              </a:highlight>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34"/>
          <p:cNvSpPr txBox="1"/>
          <p:nvPr/>
        </p:nvSpPr>
        <p:spPr>
          <a:xfrm>
            <a:off x="576072" y="1234440"/>
            <a:ext cx="10607040" cy="526293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Problem Statement : </a:t>
            </a:r>
            <a:r>
              <a:rPr lang="en-IN" b="1" dirty="0"/>
              <a:t>AI Grant and Funding Finder for </a:t>
            </a:r>
            <a:r>
              <a:rPr lang="en-IN" b="1" dirty="0" err="1"/>
              <a:t>Startups</a:t>
            </a:r>
            <a:endParaRPr lang="en-IN" b="1" dirty="0"/>
          </a:p>
          <a:p>
            <a:pPr marL="0" marR="0" lvl="0" indent="0" algn="l" rtl="0">
              <a:lnSpc>
                <a:spcPct val="100000"/>
              </a:lnSpc>
              <a:spcBef>
                <a:spcPts val="0"/>
              </a:spcBef>
              <a:spcAft>
                <a:spcPts val="0"/>
              </a:spcAft>
              <a:buNone/>
            </a:pPr>
            <a:r>
              <a:rPr lang="en-IN" dirty="0"/>
              <a:t>Problem Statement No. 18 – AI Grant and Funding Finder for </a:t>
            </a:r>
            <a:r>
              <a:rPr lang="en-IN" dirty="0" err="1"/>
              <a:t>Startups</a:t>
            </a:r>
            <a:endParaRPr b="1" dirty="0"/>
          </a:p>
          <a:p>
            <a:pPr marL="0" marR="0" lvl="0" indent="0" algn="l" rtl="0">
              <a:lnSpc>
                <a:spcPct val="100000"/>
              </a:lnSpc>
              <a:spcBef>
                <a:spcPts val="0"/>
              </a:spcBef>
              <a:spcAft>
                <a:spcPts val="0"/>
              </a:spcAft>
              <a:buNone/>
            </a:pPr>
            <a:endParaRPr sz="14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The Challenge</a:t>
            </a:r>
            <a:r>
              <a:rPr lang="en-US" sz="1400" b="0" i="0" u="none" strike="noStrike" cap="none" dirty="0">
                <a:solidFill>
                  <a:srgbClr val="000000"/>
                </a:solidFill>
                <a:latin typeface="Arial"/>
                <a:ea typeface="Arial"/>
                <a:cs typeface="Arial"/>
                <a:sym typeface="Arial"/>
              </a:rPr>
              <a:t> </a:t>
            </a:r>
            <a:endParaRPr dirty="0"/>
          </a:p>
          <a:p>
            <a:r>
              <a:rPr lang="en-US" dirty="0"/>
              <a:t>Startups often struggle to discover relevant government grants and funding opportunities because information is distributed across multiple schemes, portals, guidelines, and unstructured documents.</a:t>
            </a:r>
          </a:p>
          <a:p>
            <a:r>
              <a:rPr lang="en-US" dirty="0"/>
              <a:t>Grant eligibility conditions, funding support, application requirements, and deadline information are often described in lengthy documents with different formats and terminology. Manually </a:t>
            </a:r>
            <a:r>
              <a:rPr lang="en-US" dirty="0" err="1"/>
              <a:t>analysing</a:t>
            </a:r>
            <a:r>
              <a:rPr lang="en-US" dirty="0"/>
              <a:t> these sources is time-consuming and may cause founders to overlook suitable opportunities.</a:t>
            </a:r>
          </a:p>
          <a:p>
            <a:r>
              <a:rPr lang="en-US" dirty="0"/>
              <a:t>Personalizing funding recommendations is another challenge because the relevance of a grant depends on factors such as the startup's sector, development stage, location, funding requirement, and project objectives.</a:t>
            </a:r>
          </a:p>
          <a:p>
            <a:r>
              <a:rPr lang="en-US" dirty="0"/>
              <a:t>Proposal preparation further requires founders to align their startup information with scheme-specific requirements without inventing unsupported claims.</a:t>
            </a:r>
          </a:p>
          <a:p>
            <a:r>
              <a:rPr lang="en-US" b="1" dirty="0"/>
              <a:t>The Objective</a:t>
            </a:r>
            <a:endParaRPr lang="en-US" dirty="0"/>
          </a:p>
          <a:p>
            <a:r>
              <a:rPr lang="en-US" dirty="0"/>
              <a:t>Build an AI-powered Grant and Funding Finder that:</a:t>
            </a:r>
          </a:p>
          <a:p>
            <a:r>
              <a:rPr lang="en-US" dirty="0"/>
              <a:t>• Recommends relevant government grant schemes based on startup context.</a:t>
            </a:r>
            <a:br>
              <a:rPr lang="en-US" dirty="0"/>
            </a:br>
            <a:r>
              <a:rPr lang="en-US" dirty="0"/>
              <a:t>• Retrieves grant information from an indexed knowledge base using RAG.</a:t>
            </a:r>
            <a:br>
              <a:rPr lang="en-US" dirty="0"/>
            </a:br>
            <a:r>
              <a:rPr lang="en-US" dirty="0"/>
              <a:t>• Assesses eligibility using available startup and grant evidence.</a:t>
            </a:r>
            <a:br>
              <a:rPr lang="en-US" dirty="0"/>
            </a:br>
            <a:r>
              <a:rPr lang="en-US" dirty="0"/>
              <a:t>• Generates grounded proposal drafts and proposal guidance.</a:t>
            </a:r>
            <a:br>
              <a:rPr lang="en-US" dirty="0"/>
            </a:br>
            <a:r>
              <a:rPr lang="en-US" dirty="0"/>
              <a:t>• Analyses deadline information without inventing unsupported dates.</a:t>
            </a:r>
            <a:br>
              <a:rPr lang="en-US" dirty="0"/>
            </a:br>
            <a:r>
              <a:rPr lang="en-US" dirty="0"/>
              <a:t>• Provides evidence-based notification and next-action guidance.</a:t>
            </a:r>
            <a:br>
              <a:rPr lang="en-US" dirty="0"/>
            </a:br>
            <a:r>
              <a:rPr lang="en-US" dirty="0"/>
              <a:t>• Coordinates specialized AI capabilities through a unified multi-agent workflow.</a:t>
            </a:r>
            <a:br>
              <a:rPr lang="en-US" dirty="0"/>
            </a:br>
            <a:r>
              <a:rPr lang="en-US" dirty="0"/>
              <a:t>• Preserves supporting source metadata for transparent AI responses.</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96" name="Google Shape;96;p34"/>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Problem Statement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35"/>
          <p:cNvSpPr txBox="1"/>
          <p:nvPr/>
        </p:nvSpPr>
        <p:spPr>
          <a:xfrm>
            <a:off x="455468" y="1168656"/>
            <a:ext cx="10607040" cy="526293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endParaRPr sz="1400" b="1"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US" sz="1400" b="1" i="0" u="none" strike="noStrike" cap="none" dirty="0">
                <a:solidFill>
                  <a:srgbClr val="000000"/>
                </a:solidFill>
                <a:latin typeface="Arial"/>
                <a:ea typeface="Arial"/>
                <a:cs typeface="Arial"/>
                <a:sym typeface="Arial"/>
              </a:rPr>
              <a:t>Proposed Solution: </a:t>
            </a:r>
            <a:r>
              <a:rPr lang="en-US" b="1" dirty="0" err="1"/>
              <a:t>GrantAI</a:t>
            </a:r>
            <a:r>
              <a:rPr lang="en-US" b="1" dirty="0"/>
              <a:t> – Agentic AI Grant and Funding Finder</a:t>
            </a:r>
          </a:p>
          <a:p>
            <a:pPr marL="0" marR="0" lvl="0" indent="0" algn="l" rtl="0">
              <a:lnSpc>
                <a:spcPct val="100000"/>
              </a:lnSpc>
              <a:spcBef>
                <a:spcPts val="0"/>
              </a:spcBef>
              <a:spcAft>
                <a:spcPts val="0"/>
              </a:spcAft>
              <a:buNone/>
            </a:pPr>
            <a:endParaRPr lang="en-US" b="1" dirty="0"/>
          </a:p>
          <a:p>
            <a:r>
              <a:rPr lang="en-US" dirty="0" err="1"/>
              <a:t>GrantAI</a:t>
            </a:r>
            <a:r>
              <a:rPr lang="en-US" dirty="0"/>
              <a:t> is an AI-powered grant discovery and funding assistance platform designed to help startups navigate government funding opportunities through grounded, context-aware AI.</a:t>
            </a:r>
          </a:p>
          <a:p>
            <a:r>
              <a:rPr lang="en-US" dirty="0"/>
              <a:t>The solution combines </a:t>
            </a:r>
            <a:r>
              <a:rPr lang="en-US" b="1" dirty="0"/>
              <a:t>IBM Granite, IBM watsonx.ai, Retrieval-Augmented Generation (RAG), semantic retrieval, and a multi-agent workflow</a:t>
            </a:r>
            <a:r>
              <a:rPr lang="en-US" dirty="0"/>
              <a:t> to transform fragmented grant information into actionable startup guidance.</a:t>
            </a:r>
          </a:p>
          <a:p>
            <a:r>
              <a:rPr lang="en-US" dirty="0"/>
              <a:t>At the core of </a:t>
            </a:r>
            <a:r>
              <a:rPr lang="en-US" dirty="0" err="1"/>
              <a:t>GrantAI</a:t>
            </a:r>
            <a:r>
              <a:rPr lang="en-US" dirty="0"/>
              <a:t> is a shared RAG pipeline. Government grant documents are processed, embedded, and indexed in a FAISS vector store. When a startup submits its profile or funding query, the system performs semantic retrieval to identify relevant grant evidence. The retrieved context is passed to IBM Granite through focused prompt builders to generate grounded responses.</a:t>
            </a:r>
          </a:p>
          <a:p>
            <a:r>
              <a:rPr lang="en-US" dirty="0" err="1"/>
              <a:t>GrantAI</a:t>
            </a:r>
            <a:r>
              <a:rPr lang="en-US" dirty="0"/>
              <a:t> consists of five specialized AI capabilities:</a:t>
            </a:r>
          </a:p>
          <a:p>
            <a:r>
              <a:rPr lang="en-US" b="1" dirty="0"/>
              <a:t>Grant Recommendation Agent</a:t>
            </a:r>
            <a:r>
              <a:rPr lang="en-US" dirty="0"/>
              <a:t> – Identifies relevant grant schemes based on startup sector, stage, location, and funding needs.</a:t>
            </a:r>
          </a:p>
          <a:p>
            <a:r>
              <a:rPr lang="en-US" b="1" dirty="0"/>
              <a:t>Eligibility Agent</a:t>
            </a:r>
            <a:r>
              <a:rPr lang="en-US" dirty="0"/>
              <a:t> – Compares startup information with retrieved grant requirements and distinguishes confirmed, missing, and unsupported eligibility information.</a:t>
            </a:r>
          </a:p>
          <a:p>
            <a:r>
              <a:rPr lang="en-US" b="1" dirty="0"/>
              <a:t>Proposal Generation Agent</a:t>
            </a:r>
            <a:r>
              <a:rPr lang="en-US" dirty="0"/>
              <a:t> – Creates a grant-focused proposal draft using supplied startup facts and retrieved scheme evidence.</a:t>
            </a:r>
          </a:p>
          <a:p>
            <a:r>
              <a:rPr lang="en-US" b="1" dirty="0"/>
              <a:t>Deadline Analysis Agent</a:t>
            </a:r>
            <a:r>
              <a:rPr lang="en-US" dirty="0"/>
              <a:t> – Analyses application timing while preventing fabricated or unsupported deadlines.</a:t>
            </a:r>
          </a:p>
          <a:p>
            <a:r>
              <a:rPr lang="en-US" b="1" dirty="0"/>
              <a:t>Notification Agent</a:t>
            </a:r>
            <a:r>
              <a:rPr lang="en-US" dirty="0"/>
              <a:t> – Generates evidence-based reminders and practical next actions without creating false urgency.</a:t>
            </a:r>
          </a:p>
          <a:p>
            <a:r>
              <a:rPr lang="en-US" dirty="0"/>
              <a:t>A </a:t>
            </a:r>
            <a:r>
              <a:rPr lang="en-US" b="1" dirty="0" err="1"/>
              <a:t>WorkflowCoordinator</a:t>
            </a:r>
            <a:r>
              <a:rPr lang="en-US" dirty="0"/>
              <a:t> coordinates these capabilities for multi-task founder requests and a </a:t>
            </a:r>
            <a:r>
              <a:rPr lang="en-US" b="1" dirty="0" err="1"/>
              <a:t>UnifiedResponseBuilder</a:t>
            </a:r>
            <a:r>
              <a:rPr lang="en-US" dirty="0"/>
              <a:t> combines their outputs into one structured grant journey.</a:t>
            </a:r>
          </a:p>
          <a:p>
            <a:r>
              <a:rPr lang="en-US" dirty="0"/>
              <a:t>The React frontend and </a:t>
            </a:r>
            <a:r>
              <a:rPr lang="en-US" dirty="0" err="1"/>
              <a:t>FastAPI</a:t>
            </a:r>
            <a:r>
              <a:rPr lang="en-US" dirty="0"/>
              <a:t> backend provide a user-friendly interface for grant discovery, eligibility analysis, proposal generation, deadline guidance, and AI-assisted workflows.</a:t>
            </a:r>
          </a:p>
          <a:p>
            <a:r>
              <a:rPr lang="en-US" dirty="0"/>
              <a:t>Overall, </a:t>
            </a:r>
            <a:r>
              <a:rPr lang="en-US" dirty="0" err="1"/>
              <a:t>GrantAI</a:t>
            </a:r>
            <a:r>
              <a:rPr lang="en-US" dirty="0"/>
              <a:t> acts as an intelligent funding guidance platform that helps startups move from </a:t>
            </a:r>
            <a:r>
              <a:rPr lang="en-US" b="1" dirty="0"/>
              <a:t>grant discovery to application preparation using grounded AI</a:t>
            </a:r>
            <a:r>
              <a:rPr lang="en-US" dirty="0"/>
              <a:t>.</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Arial"/>
              <a:ea typeface="Arial"/>
              <a:cs typeface="Arial"/>
              <a:sym typeface="Arial"/>
            </a:endParaRPr>
          </a:p>
        </p:txBody>
      </p:sp>
      <p:sp>
        <p:nvSpPr>
          <p:cNvPr id="102" name="Google Shape;102;p35"/>
          <p:cNvSpPr txBox="1"/>
          <p:nvPr/>
        </p:nvSpPr>
        <p:spPr>
          <a:xfrm>
            <a:off x="576072" y="704088"/>
            <a:ext cx="721461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Proposed Solution -</a:t>
            </a:r>
            <a:endParaRPr sz="2400" b="1"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6"/>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Technology Used</a:t>
            </a:r>
            <a:endParaRPr sz="2400" b="1" i="0" u="none" strike="noStrike" cap="none">
              <a:solidFill>
                <a:srgbClr val="000000"/>
              </a:solidFill>
              <a:latin typeface="Arial"/>
              <a:ea typeface="Arial"/>
              <a:cs typeface="Arial"/>
              <a:sym typeface="Arial"/>
            </a:endParaRPr>
          </a:p>
        </p:txBody>
      </p:sp>
      <p:sp>
        <p:nvSpPr>
          <p:cNvPr id="108" name="Google Shape;108;p36"/>
          <p:cNvSpPr txBox="1"/>
          <p:nvPr/>
        </p:nvSpPr>
        <p:spPr>
          <a:xfrm>
            <a:off x="777240" y="1207008"/>
            <a:ext cx="10515600" cy="4524275"/>
          </a:xfrm>
          <a:prstGeom prst="rect">
            <a:avLst/>
          </a:prstGeom>
          <a:noFill/>
          <a:ln>
            <a:noFill/>
          </a:ln>
        </p:spPr>
        <p:txBody>
          <a:bodyPr spcFirstLastPara="1" wrap="square" lIns="91425" tIns="45700" rIns="91425" bIns="45700" anchor="t" anchorCtr="0">
            <a:spAutoFit/>
          </a:bodyPr>
          <a:lstStyle/>
          <a:p>
            <a:r>
              <a:rPr lang="en-IN" sz="1800" dirty="0"/>
              <a:t>• </a:t>
            </a:r>
            <a:r>
              <a:rPr lang="en-IN" sz="1800" b="1" dirty="0"/>
              <a:t>IBM Granite Models</a:t>
            </a:r>
            <a:r>
              <a:rPr lang="en-IN" sz="1800" dirty="0"/>
              <a:t> – Used for grounded natural language generation, reasoning, summarization, grant analysis, and proposal assistance.</a:t>
            </a:r>
          </a:p>
          <a:p>
            <a:r>
              <a:rPr lang="en-IN" sz="1800" dirty="0"/>
              <a:t>• </a:t>
            </a:r>
            <a:r>
              <a:rPr lang="en-IN" sz="1800" b="1" dirty="0"/>
              <a:t>IBM watsonx.ai</a:t>
            </a:r>
            <a:r>
              <a:rPr lang="en-IN" sz="1800" dirty="0"/>
              <a:t> – Provides access to IBM Granite for AI inference and model-powered generation.</a:t>
            </a:r>
          </a:p>
          <a:p>
            <a:r>
              <a:rPr lang="en-IN" sz="1800" dirty="0"/>
              <a:t>• </a:t>
            </a:r>
            <a:r>
              <a:rPr lang="en-IN" sz="1800" b="1" dirty="0"/>
              <a:t>IBM Cloud</a:t>
            </a:r>
            <a:r>
              <a:rPr lang="en-IN" sz="1800" dirty="0"/>
              <a:t> – IBM cloud ecosystem used to support the AI integration and project environment.</a:t>
            </a:r>
          </a:p>
          <a:p>
            <a:r>
              <a:rPr lang="en-IN" sz="1800" dirty="0"/>
              <a:t>• </a:t>
            </a:r>
            <a:r>
              <a:rPr lang="en-IN" sz="1800" b="1" dirty="0"/>
              <a:t>Retrieval-Augmented Generation (RAG)</a:t>
            </a:r>
            <a:r>
              <a:rPr lang="en-IN" sz="1800" dirty="0"/>
              <a:t> – Retrieves relevant grant evidence before generation to improve grounding and reduce unsupported responses.</a:t>
            </a:r>
          </a:p>
          <a:p>
            <a:r>
              <a:rPr lang="en-IN" sz="1800" dirty="0"/>
              <a:t>• </a:t>
            </a:r>
            <a:r>
              <a:rPr lang="en-IN" sz="1800" b="1" dirty="0"/>
              <a:t>FAISS Vector Database</a:t>
            </a:r>
            <a:r>
              <a:rPr lang="en-IN" sz="1800" dirty="0"/>
              <a:t> – Stores document embeddings and supports semantic similarity search across the government grant knowledge base.</a:t>
            </a:r>
          </a:p>
          <a:p>
            <a:r>
              <a:rPr lang="en-IN" sz="1800" dirty="0"/>
              <a:t>• </a:t>
            </a:r>
            <a:r>
              <a:rPr lang="en-IN" sz="1800" b="1" dirty="0"/>
              <a:t>Embedding &amp; Semantic Retrieval Pipeline</a:t>
            </a:r>
            <a:r>
              <a:rPr lang="en-IN" sz="1800" dirty="0"/>
              <a:t> – Converts grant content and user queries into vector representations for evidence retrieval.</a:t>
            </a:r>
          </a:p>
          <a:p>
            <a:r>
              <a:rPr lang="en-IN" sz="1800" dirty="0"/>
              <a:t>• </a:t>
            </a:r>
            <a:r>
              <a:rPr lang="en-IN" sz="1800" b="1" dirty="0" err="1"/>
              <a:t>FastAPI</a:t>
            </a:r>
            <a:r>
              <a:rPr lang="en-IN" sz="1800" dirty="0"/>
              <a:t> – Provides REST API endpoints and backend application integration.</a:t>
            </a:r>
          </a:p>
          <a:p>
            <a:r>
              <a:rPr lang="en-IN" sz="1800" dirty="0"/>
              <a:t>• </a:t>
            </a:r>
            <a:r>
              <a:rPr lang="en-IN" sz="1800" b="1" dirty="0"/>
              <a:t>React + TypeScript + </a:t>
            </a:r>
            <a:r>
              <a:rPr lang="en-IN" sz="1800" b="1" dirty="0" err="1"/>
              <a:t>Vite</a:t>
            </a:r>
            <a:r>
              <a:rPr lang="en-IN" sz="1800" dirty="0"/>
              <a:t> – Used to build the responsive </a:t>
            </a:r>
            <a:r>
              <a:rPr lang="en-IN" sz="1800" dirty="0" err="1"/>
              <a:t>GrantAI</a:t>
            </a:r>
            <a:r>
              <a:rPr lang="en-IN" sz="1800" dirty="0"/>
              <a:t> frontend.</a:t>
            </a:r>
          </a:p>
          <a:p>
            <a:r>
              <a:rPr lang="en-IN" sz="1800" dirty="0"/>
              <a:t>• </a:t>
            </a:r>
            <a:r>
              <a:rPr lang="en-IN" sz="1800" b="1" dirty="0"/>
              <a:t>Prompt Engineering</a:t>
            </a:r>
            <a:r>
              <a:rPr lang="en-IN" sz="1800" dirty="0"/>
              <a:t> – Dedicated prompt builders enforce role definition, context separation, task focusing, evidence grounding, and non-fabrication safeguards.</a:t>
            </a:r>
          </a:p>
          <a:p>
            <a:r>
              <a:rPr lang="en-IN" sz="1800" dirty="0"/>
              <a:t>• </a:t>
            </a:r>
            <a:r>
              <a:rPr lang="en-IN" sz="1800" b="1" dirty="0"/>
              <a:t>Multi-Agent Workflow Coordination</a:t>
            </a:r>
            <a:r>
              <a:rPr lang="en-IN" sz="1800" dirty="0"/>
              <a:t> – </a:t>
            </a:r>
            <a:r>
              <a:rPr lang="en-IN" sz="1800" dirty="0" err="1"/>
              <a:t>WorkflowCoordinator</a:t>
            </a:r>
            <a:r>
              <a:rPr lang="en-IN" sz="1800" dirty="0"/>
              <a:t> coordinates recommendation, eligibility, proposal, deadline, and notification capabilities.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i="0" u="none" strike="noStrike" cap="none" dirty="0">
                <a:solidFill>
                  <a:srgbClr val="000000"/>
                </a:solidFill>
                <a:latin typeface="Arial"/>
                <a:ea typeface="Arial"/>
                <a:cs typeface="Arial"/>
                <a:sym typeface="Arial"/>
              </a:rPr>
              <a:t>Core</a:t>
            </a:r>
            <a:r>
              <a:rPr lang="en-US" sz="3500" b="1" i="0" u="none" strike="noStrike" cap="none" dirty="0">
                <a:solidFill>
                  <a:srgbClr val="051D3A"/>
                </a:solidFill>
                <a:latin typeface="Times New Roman"/>
                <a:ea typeface="Times New Roman"/>
                <a:cs typeface="Times New Roman"/>
                <a:sym typeface="Times New Roman"/>
              </a:rPr>
              <a:t> </a:t>
            </a:r>
            <a:r>
              <a:rPr lang="en-US" sz="2400" b="1" dirty="0">
                <a:ea typeface="Times New Roman"/>
              </a:rPr>
              <a:t>C</a:t>
            </a:r>
            <a:r>
              <a:rPr lang="en-US" sz="2400" b="1" i="0" u="none" strike="noStrike" cap="none" dirty="0">
                <a:solidFill>
                  <a:srgbClr val="000000"/>
                </a:solidFill>
                <a:latin typeface="Arial"/>
                <a:ea typeface="Arial"/>
                <a:cs typeface="Arial"/>
                <a:sym typeface="Arial"/>
              </a:rPr>
              <a:t>omponent Used -</a:t>
            </a:r>
            <a:endParaRPr sz="2400" b="1" i="0" u="none" strike="noStrike" cap="none" dirty="0">
              <a:solidFill>
                <a:srgbClr val="000000"/>
              </a:solidFill>
              <a:latin typeface="Arial"/>
              <a:ea typeface="Arial"/>
              <a:cs typeface="Arial"/>
              <a:sym typeface="Arial"/>
            </a:endParaRPr>
          </a:p>
        </p:txBody>
      </p:sp>
      <p:sp>
        <p:nvSpPr>
          <p:cNvPr id="114" name="Google Shape;114;p37"/>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5" name="Google Shape;115;p37"/>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6" name="Google Shape;116;p37"/>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7" name="Google Shape;117;p37"/>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8" name="Google Shape;118;p37"/>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19" name="Google Shape;119;p37"/>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20" name="Google Shape;120;p37"/>
          <p:cNvSpPr txBox="1"/>
          <p:nvPr/>
        </p:nvSpPr>
        <p:spPr>
          <a:xfrm>
            <a:off x="757626" y="1315674"/>
            <a:ext cx="8823960" cy="3754834"/>
          </a:xfrm>
          <a:prstGeom prst="rect">
            <a:avLst/>
          </a:prstGeom>
          <a:noFill/>
          <a:ln>
            <a:noFill/>
          </a:ln>
        </p:spPr>
        <p:txBody>
          <a:bodyPr spcFirstLastPara="1" wrap="square" lIns="91425" tIns="45700" rIns="91425" bIns="45700" anchor="t" anchorCtr="0">
            <a:spAutoFit/>
          </a:bodyPr>
          <a:lstStyle/>
          <a:p>
            <a:r>
              <a:rPr lang="en-US" b="1" dirty="0"/>
              <a:t>1)React User Interface</a:t>
            </a:r>
            <a:r>
              <a:rPr lang="en-US" dirty="0"/>
              <a:t> – Accepts startup profiles, grant queries, eligibility inputs, proposal context, deadline requests, and notification context.</a:t>
            </a:r>
          </a:p>
          <a:p>
            <a:r>
              <a:rPr lang="en-US" b="1" dirty="0"/>
              <a:t>2) </a:t>
            </a:r>
            <a:r>
              <a:rPr lang="en-US" b="1" dirty="0" err="1"/>
              <a:t>FastAPI</a:t>
            </a:r>
            <a:r>
              <a:rPr lang="en-US" b="1" dirty="0"/>
              <a:t> API Layer</a:t>
            </a:r>
            <a:r>
              <a:rPr lang="en-US" dirty="0"/>
              <a:t> – Provides thin REST endpoints for recommendation, eligibility, proposal generation, deadline analysis, notifications, chat, and unified workflows.</a:t>
            </a:r>
          </a:p>
          <a:p>
            <a:r>
              <a:rPr lang="en-US" b="1" dirty="0"/>
              <a:t>3) Specialized AI Services</a:t>
            </a:r>
            <a:r>
              <a:rPr lang="en-US" dirty="0"/>
              <a:t> – </a:t>
            </a:r>
            <a:r>
              <a:rPr lang="en-US" dirty="0" err="1"/>
              <a:t>GrantRecommendationService</a:t>
            </a:r>
            <a:r>
              <a:rPr lang="en-US" dirty="0"/>
              <a:t>, </a:t>
            </a:r>
            <a:r>
              <a:rPr lang="en-US" dirty="0" err="1"/>
              <a:t>EligibilityService</a:t>
            </a:r>
            <a:r>
              <a:rPr lang="en-US" dirty="0"/>
              <a:t>, </a:t>
            </a:r>
            <a:r>
              <a:rPr lang="en-US" dirty="0" err="1"/>
              <a:t>ProposalGenerationService</a:t>
            </a:r>
            <a:r>
              <a:rPr lang="en-US" dirty="0"/>
              <a:t>, </a:t>
            </a:r>
            <a:r>
              <a:rPr lang="en-US" dirty="0" err="1"/>
              <a:t>DeadlineService</a:t>
            </a:r>
            <a:r>
              <a:rPr lang="en-US" dirty="0"/>
              <a:t>, and </a:t>
            </a:r>
            <a:r>
              <a:rPr lang="en-US" dirty="0" err="1"/>
              <a:t>NotificationService</a:t>
            </a:r>
            <a:r>
              <a:rPr lang="en-US" dirty="0"/>
              <a:t> handle focused grant tasks.</a:t>
            </a:r>
          </a:p>
          <a:p>
            <a:r>
              <a:rPr lang="en-US" b="1" dirty="0"/>
              <a:t>4) </a:t>
            </a:r>
            <a:r>
              <a:rPr lang="en-US" b="1" dirty="0" err="1"/>
              <a:t>WorkflowCoordinator</a:t>
            </a:r>
            <a:r>
              <a:rPr lang="en-US" dirty="0"/>
              <a:t> – Coordinates multiple AI services sequentially for complete grant-journey requests.</a:t>
            </a:r>
          </a:p>
          <a:p>
            <a:r>
              <a:rPr lang="en-US" b="1" dirty="0"/>
              <a:t>5) Shared </a:t>
            </a:r>
            <a:r>
              <a:rPr lang="en-US" b="1" dirty="0" err="1"/>
              <a:t>RAGAnswerService</a:t>
            </a:r>
            <a:r>
              <a:rPr lang="en-US" dirty="0"/>
              <a:t> – Provides the common production path for retrieval, grounded prompt construction, and IBM Granite generation.</a:t>
            </a:r>
          </a:p>
          <a:p>
            <a:r>
              <a:rPr lang="en-US" b="1" dirty="0"/>
              <a:t>6) Semantic Retriever + FAISS</a:t>
            </a:r>
            <a:r>
              <a:rPr lang="en-US" dirty="0"/>
              <a:t> – Retrieves the most relevant grant evidence from the indexed government grant corpus.</a:t>
            </a:r>
          </a:p>
          <a:p>
            <a:r>
              <a:rPr lang="en-US" b="1" dirty="0"/>
              <a:t>7) IBM Granite Model via watsonx.ai</a:t>
            </a:r>
            <a:r>
              <a:rPr lang="en-US" dirty="0"/>
              <a:t> – Generates grounded recommendations, assessments, proposal content, deadline guidance, and action reminders.</a:t>
            </a:r>
          </a:p>
          <a:p>
            <a:r>
              <a:rPr lang="en-US" b="1" dirty="0"/>
              <a:t>8) Prompt Builders</a:t>
            </a:r>
            <a:r>
              <a:rPr lang="en-US" dirty="0"/>
              <a:t> – Apply task-specific prompt engineering and non-fabrication safeguards.</a:t>
            </a:r>
          </a:p>
          <a:p>
            <a:r>
              <a:rPr lang="en-US" b="1" dirty="0"/>
              <a:t>9) </a:t>
            </a:r>
            <a:r>
              <a:rPr lang="en-US" b="1" dirty="0" err="1"/>
              <a:t>UnifiedResponseBuilder</a:t>
            </a:r>
            <a:r>
              <a:rPr lang="en-US" dirty="0"/>
              <a:t> – Combines multi-agent results into a structured response for the user.</a:t>
            </a:r>
          </a:p>
          <a:p>
            <a:r>
              <a:rPr lang="en-US" b="1" dirty="0"/>
              <a:t>10) Source Mapping Layer</a:t>
            </a:r>
            <a:r>
              <a:rPr lang="en-US" dirty="0"/>
              <a:t> – Preserves available grant name, organization, source document, and page metadata.</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16282-388C-4EEE-A128-EA2D7D4358F8}"/>
              </a:ext>
            </a:extLst>
          </p:cNvPr>
          <p:cNvSpPr>
            <a:spLocks noGrp="1"/>
          </p:cNvSpPr>
          <p:nvPr>
            <p:ph type="title"/>
          </p:nvPr>
        </p:nvSpPr>
        <p:spPr>
          <a:xfrm>
            <a:off x="159471" y="-153349"/>
            <a:ext cx="10515600" cy="1325563"/>
          </a:xfrm>
        </p:spPr>
        <p:txBody>
          <a:bodyPr>
            <a:normAutofit/>
          </a:bodyPr>
          <a:lstStyle/>
          <a:p>
            <a:r>
              <a:rPr lang="en-IN" sz="2800" dirty="0"/>
              <a:t>Application Screenshots:</a:t>
            </a:r>
          </a:p>
        </p:txBody>
      </p:sp>
      <p:pic>
        <p:nvPicPr>
          <p:cNvPr id="4" name="Picture 3">
            <a:extLst>
              <a:ext uri="{FF2B5EF4-FFF2-40B4-BE49-F238E27FC236}">
                <a16:creationId xmlns:a16="http://schemas.microsoft.com/office/drawing/2014/main" id="{0A95762D-C313-4797-B070-CEF39E021940}"/>
              </a:ext>
            </a:extLst>
          </p:cNvPr>
          <p:cNvPicPr>
            <a:picLocks noChangeAspect="1"/>
          </p:cNvPicPr>
          <p:nvPr/>
        </p:nvPicPr>
        <p:blipFill>
          <a:blip r:embed="rId2"/>
          <a:stretch>
            <a:fillRect/>
          </a:stretch>
        </p:blipFill>
        <p:spPr>
          <a:xfrm>
            <a:off x="92698" y="976769"/>
            <a:ext cx="3998536" cy="2467467"/>
          </a:xfrm>
          <a:prstGeom prst="rect">
            <a:avLst/>
          </a:prstGeom>
        </p:spPr>
      </p:pic>
      <p:pic>
        <p:nvPicPr>
          <p:cNvPr id="6" name="Picture 5">
            <a:extLst>
              <a:ext uri="{FF2B5EF4-FFF2-40B4-BE49-F238E27FC236}">
                <a16:creationId xmlns:a16="http://schemas.microsoft.com/office/drawing/2014/main" id="{FFA7D279-19AE-4099-AD9C-6CC861D6BB42}"/>
              </a:ext>
            </a:extLst>
          </p:cNvPr>
          <p:cNvPicPr>
            <a:picLocks noChangeAspect="1"/>
          </p:cNvPicPr>
          <p:nvPr/>
        </p:nvPicPr>
        <p:blipFill rotWithShape="1">
          <a:blip r:embed="rId3"/>
          <a:srcRect l="16875" t="12799" r="17290" b="20740"/>
          <a:stretch/>
        </p:blipFill>
        <p:spPr>
          <a:xfrm>
            <a:off x="4091234" y="961533"/>
            <a:ext cx="3921550" cy="2490946"/>
          </a:xfrm>
          <a:prstGeom prst="rect">
            <a:avLst/>
          </a:prstGeom>
        </p:spPr>
      </p:pic>
      <p:pic>
        <p:nvPicPr>
          <p:cNvPr id="8" name="Picture 7">
            <a:extLst>
              <a:ext uri="{FF2B5EF4-FFF2-40B4-BE49-F238E27FC236}">
                <a16:creationId xmlns:a16="http://schemas.microsoft.com/office/drawing/2014/main" id="{9CAD5A94-B45C-42B0-8CDB-EA99D180BF05}"/>
              </a:ext>
            </a:extLst>
          </p:cNvPr>
          <p:cNvPicPr>
            <a:picLocks noChangeAspect="1"/>
          </p:cNvPicPr>
          <p:nvPr/>
        </p:nvPicPr>
        <p:blipFill rotWithShape="1">
          <a:blip r:embed="rId4"/>
          <a:srcRect l="16933" t="12371" r="16959" b="21374"/>
          <a:stretch/>
        </p:blipFill>
        <p:spPr>
          <a:xfrm>
            <a:off x="8100469" y="913851"/>
            <a:ext cx="4091531" cy="2538628"/>
          </a:xfrm>
          <a:prstGeom prst="rect">
            <a:avLst/>
          </a:prstGeom>
        </p:spPr>
      </p:pic>
      <p:pic>
        <p:nvPicPr>
          <p:cNvPr id="10" name="Picture 9">
            <a:extLst>
              <a:ext uri="{FF2B5EF4-FFF2-40B4-BE49-F238E27FC236}">
                <a16:creationId xmlns:a16="http://schemas.microsoft.com/office/drawing/2014/main" id="{F631E25F-D6F1-4DAB-8259-0EAD94E784C2}"/>
              </a:ext>
            </a:extLst>
          </p:cNvPr>
          <p:cNvPicPr>
            <a:picLocks noChangeAspect="1"/>
          </p:cNvPicPr>
          <p:nvPr/>
        </p:nvPicPr>
        <p:blipFill rotWithShape="1">
          <a:blip r:embed="rId5"/>
          <a:srcRect l="17010" t="12233" r="16882" b="20963"/>
          <a:stretch/>
        </p:blipFill>
        <p:spPr>
          <a:xfrm>
            <a:off x="89855" y="3900114"/>
            <a:ext cx="3916537" cy="2444389"/>
          </a:xfrm>
          <a:prstGeom prst="rect">
            <a:avLst/>
          </a:prstGeom>
        </p:spPr>
      </p:pic>
      <p:pic>
        <p:nvPicPr>
          <p:cNvPr id="12" name="Picture 11">
            <a:extLst>
              <a:ext uri="{FF2B5EF4-FFF2-40B4-BE49-F238E27FC236}">
                <a16:creationId xmlns:a16="http://schemas.microsoft.com/office/drawing/2014/main" id="{B429EAAD-D88F-472B-A832-D5C620C89CAB}"/>
              </a:ext>
            </a:extLst>
          </p:cNvPr>
          <p:cNvPicPr>
            <a:picLocks noChangeAspect="1"/>
          </p:cNvPicPr>
          <p:nvPr/>
        </p:nvPicPr>
        <p:blipFill rotWithShape="1">
          <a:blip r:embed="rId6"/>
          <a:srcRect l="16779" t="12096" r="17158" b="20825"/>
          <a:stretch/>
        </p:blipFill>
        <p:spPr>
          <a:xfrm>
            <a:off x="4015821" y="3900115"/>
            <a:ext cx="3996964" cy="2444390"/>
          </a:xfrm>
          <a:prstGeom prst="rect">
            <a:avLst/>
          </a:prstGeom>
        </p:spPr>
      </p:pic>
      <p:pic>
        <p:nvPicPr>
          <p:cNvPr id="14" name="Picture 13">
            <a:extLst>
              <a:ext uri="{FF2B5EF4-FFF2-40B4-BE49-F238E27FC236}">
                <a16:creationId xmlns:a16="http://schemas.microsoft.com/office/drawing/2014/main" id="{CE7421B5-0311-4519-91CE-53AEF8BF6864}"/>
              </a:ext>
            </a:extLst>
          </p:cNvPr>
          <p:cNvPicPr>
            <a:picLocks noChangeAspect="1"/>
          </p:cNvPicPr>
          <p:nvPr/>
        </p:nvPicPr>
        <p:blipFill rotWithShape="1">
          <a:blip r:embed="rId7"/>
          <a:srcRect l="17088" t="11821" r="16959" b="21237"/>
          <a:stretch/>
        </p:blipFill>
        <p:spPr>
          <a:xfrm>
            <a:off x="8100470" y="3900114"/>
            <a:ext cx="4091530" cy="2444389"/>
          </a:xfrm>
          <a:prstGeom prst="rect">
            <a:avLst/>
          </a:prstGeom>
        </p:spPr>
      </p:pic>
    </p:spTree>
    <p:extLst>
      <p:ext uri="{BB962C8B-B14F-4D97-AF65-F5344CB8AC3E}">
        <p14:creationId xmlns:p14="http://schemas.microsoft.com/office/powerpoint/2010/main" val="2776560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US" sz="2400" b="1" dirty="0">
                <a:solidFill>
                  <a:schemeClr val="dk1"/>
                </a:solidFill>
                <a:latin typeface="Calibri"/>
                <a:ea typeface="Calibri"/>
                <a:cs typeface="Calibri"/>
                <a:sym typeface="Calibri"/>
              </a:rPr>
              <a:t>System </a:t>
            </a:r>
            <a:r>
              <a:rPr lang="en-US" sz="2400" b="1" i="0" u="none" strike="noStrike" cap="none" dirty="0">
                <a:solidFill>
                  <a:schemeClr val="dk1"/>
                </a:solidFill>
                <a:latin typeface="Calibri"/>
                <a:ea typeface="Calibri"/>
                <a:cs typeface="Calibri"/>
                <a:sym typeface="Calibri"/>
              </a:rPr>
              <a:t>Architecture</a:t>
            </a:r>
            <a:endParaRPr sz="2400" b="0" i="0" u="none" strike="noStrike" cap="none" dirty="0">
              <a:solidFill>
                <a:srgbClr val="000000"/>
              </a:solidFill>
              <a:latin typeface="Arial"/>
              <a:ea typeface="Arial"/>
              <a:cs typeface="Arial"/>
              <a:sym typeface="Arial"/>
            </a:endParaRPr>
          </a:p>
        </p:txBody>
      </p:sp>
      <p:pic>
        <p:nvPicPr>
          <p:cNvPr id="3" name="Picture 2">
            <a:extLst>
              <a:ext uri="{FF2B5EF4-FFF2-40B4-BE49-F238E27FC236}">
                <a16:creationId xmlns:a16="http://schemas.microsoft.com/office/drawing/2014/main" id="{8BB1EABB-6856-440A-B7A3-D8008E313916}"/>
              </a:ext>
            </a:extLst>
          </p:cNvPr>
          <p:cNvPicPr>
            <a:picLocks noChangeAspect="1"/>
          </p:cNvPicPr>
          <p:nvPr/>
        </p:nvPicPr>
        <p:blipFill>
          <a:blip r:embed="rId3"/>
          <a:stretch>
            <a:fillRect/>
          </a:stretch>
        </p:blipFill>
        <p:spPr>
          <a:xfrm>
            <a:off x="659876" y="921963"/>
            <a:ext cx="10179377" cy="568151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pic>
        <p:nvPicPr>
          <p:cNvPr id="137" name="Google Shape;137;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138" name="Google Shape;138;p9"/>
          <p:cNvSpPr txBox="1"/>
          <p:nvPr/>
        </p:nvSpPr>
        <p:spPr>
          <a:xfrm>
            <a:off x="475488" y="283464"/>
            <a:ext cx="9317736" cy="89251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3200" b="1" i="0" u="none" strike="noStrike" cap="none" dirty="0">
                <a:solidFill>
                  <a:srgbClr val="000000"/>
                </a:solidFill>
                <a:latin typeface="Arial"/>
                <a:ea typeface="Arial"/>
                <a:cs typeface="Arial"/>
                <a:sym typeface="Arial"/>
              </a:rPr>
              <a:t>Role of Agentic AI in the solution </a:t>
            </a:r>
          </a:p>
          <a:p>
            <a:pPr marL="0" marR="0" lvl="0" indent="0" algn="l" rtl="0">
              <a:lnSpc>
                <a:spcPct val="100000"/>
              </a:lnSpc>
              <a:spcBef>
                <a:spcPts val="0"/>
              </a:spcBef>
              <a:spcAft>
                <a:spcPts val="0"/>
              </a:spcAft>
              <a:buNone/>
            </a:pPr>
            <a:r>
              <a:rPr lang="en-IN" sz="2000" dirty="0"/>
              <a:t>Role of Agentic AI in </a:t>
            </a:r>
            <a:r>
              <a:rPr lang="en-IN" sz="2000" dirty="0" err="1"/>
              <a:t>GrantAI</a:t>
            </a:r>
            <a:endParaRPr sz="2000" b="1" i="0" u="none" strike="noStrike" cap="none" dirty="0">
              <a:solidFill>
                <a:srgbClr val="000000"/>
              </a:solidFill>
              <a:latin typeface="Arial"/>
              <a:ea typeface="Arial"/>
              <a:cs typeface="Arial"/>
              <a:sym typeface="Arial"/>
            </a:endParaRPr>
          </a:p>
        </p:txBody>
      </p:sp>
      <p:sp>
        <p:nvSpPr>
          <p:cNvPr id="139" name="Google Shape;139;p9"/>
          <p:cNvSpPr txBox="1"/>
          <p:nvPr/>
        </p:nvSpPr>
        <p:spPr>
          <a:xfrm>
            <a:off x="475488" y="1714247"/>
            <a:ext cx="7406640" cy="4185721"/>
          </a:xfrm>
          <a:prstGeom prst="rect">
            <a:avLst/>
          </a:prstGeom>
          <a:noFill/>
          <a:ln>
            <a:noFill/>
          </a:ln>
        </p:spPr>
        <p:txBody>
          <a:bodyPr spcFirstLastPara="1" wrap="square" lIns="91425" tIns="45700" rIns="91425" bIns="45700" anchor="t" anchorCtr="0">
            <a:spAutoFit/>
          </a:bodyPr>
          <a:lstStyle/>
          <a:p>
            <a:r>
              <a:rPr lang="en-US" b="1" dirty="0"/>
              <a:t>Agentic AI enables </a:t>
            </a:r>
            <a:r>
              <a:rPr lang="en-US" b="1" dirty="0" err="1"/>
              <a:t>GrantAI</a:t>
            </a:r>
            <a:r>
              <a:rPr lang="en-US" b="1" dirty="0"/>
              <a:t> to operate as a coordinated funding guidance system rather than a simple grant-search chatbot.</a:t>
            </a:r>
            <a:endParaRPr lang="en-US" dirty="0"/>
          </a:p>
          <a:p>
            <a:r>
              <a:rPr lang="en-US" dirty="0"/>
              <a:t>Using </a:t>
            </a:r>
            <a:r>
              <a:rPr lang="en-US" b="1" dirty="0"/>
              <a:t>IBM Granite and a multi-agent workflow</a:t>
            </a:r>
            <a:r>
              <a:rPr lang="en-US" dirty="0"/>
              <a:t>, </a:t>
            </a:r>
            <a:r>
              <a:rPr lang="en-US" dirty="0" err="1"/>
              <a:t>GrantAI</a:t>
            </a:r>
            <a:r>
              <a:rPr lang="en-US" dirty="0"/>
              <a:t> decomposes a founder's funding journey into specialized tasks and coordinates dedicated AI capabilities.</a:t>
            </a:r>
          </a:p>
          <a:p>
            <a:r>
              <a:rPr lang="en-US" dirty="0"/>
              <a:t>The </a:t>
            </a:r>
            <a:r>
              <a:rPr lang="en-US" b="1" dirty="0"/>
              <a:t>Grant Recommendation Agent</a:t>
            </a:r>
            <a:r>
              <a:rPr lang="en-US" dirty="0"/>
              <a:t> identifies relevant schemes, the </a:t>
            </a:r>
            <a:r>
              <a:rPr lang="en-US" b="1" dirty="0"/>
              <a:t>Eligibility Agent</a:t>
            </a:r>
            <a:r>
              <a:rPr lang="en-US" dirty="0"/>
              <a:t> evaluates available startup information against grant evidence, the </a:t>
            </a:r>
            <a:r>
              <a:rPr lang="en-US" b="1" dirty="0"/>
              <a:t>Proposal Generation Agent</a:t>
            </a:r>
            <a:r>
              <a:rPr lang="en-US" dirty="0"/>
              <a:t> prepares grounded application content, the </a:t>
            </a:r>
            <a:r>
              <a:rPr lang="en-US" b="1" dirty="0"/>
              <a:t>Deadline Agent</a:t>
            </a:r>
            <a:r>
              <a:rPr lang="en-US" dirty="0"/>
              <a:t> analyses supported timing information, and the </a:t>
            </a:r>
            <a:r>
              <a:rPr lang="en-US" b="1" dirty="0"/>
              <a:t>Notification Agent</a:t>
            </a:r>
            <a:r>
              <a:rPr lang="en-US" dirty="0"/>
              <a:t> recommends practical next actions.</a:t>
            </a:r>
          </a:p>
          <a:p>
            <a:r>
              <a:rPr lang="en-US" dirty="0"/>
              <a:t>A </a:t>
            </a:r>
            <a:r>
              <a:rPr lang="en-US" b="1" dirty="0" err="1"/>
              <a:t>WorkflowCoordinator</a:t>
            </a:r>
            <a:r>
              <a:rPr lang="en-US" dirty="0"/>
              <a:t> manages the execution sequence and passes relevant context between capabilities. This allows a single founder request to trigger multiple grant-related tasks while preserving service boundaries.</a:t>
            </a:r>
          </a:p>
          <a:p>
            <a:r>
              <a:rPr lang="en-US" dirty="0"/>
              <a:t>Agentic AI also provides </a:t>
            </a:r>
            <a:r>
              <a:rPr lang="en-US" b="1" dirty="0"/>
              <a:t>context-aware execution</a:t>
            </a:r>
            <a:r>
              <a:rPr lang="en-US" dirty="0"/>
              <a:t>. Startup details such as sector, development stage, location, funding requirement, and project objectives influence the analysis.</a:t>
            </a:r>
          </a:p>
          <a:p>
            <a:r>
              <a:rPr lang="en-US" dirty="0"/>
              <a:t>The system follows a </a:t>
            </a:r>
            <a:r>
              <a:rPr lang="en-US" b="1" dirty="0"/>
              <a:t>best-effort workflow</a:t>
            </a:r>
            <a:r>
              <a:rPr lang="en-US" dirty="0"/>
              <a:t>. If one stage encounters an error, remaining stages can continue where possible and partial results can still be returned.</a:t>
            </a:r>
          </a:p>
          <a:p>
            <a:r>
              <a:rPr lang="en-US" dirty="0"/>
              <a:t>Overall, Agentic AI transforms </a:t>
            </a:r>
            <a:r>
              <a:rPr lang="en-US" dirty="0" err="1"/>
              <a:t>GrantAI</a:t>
            </a:r>
            <a:r>
              <a:rPr lang="en-US" dirty="0"/>
              <a:t> from a static grant finder into a </a:t>
            </a:r>
            <a:r>
              <a:rPr lang="en-US" b="1" dirty="0"/>
              <a:t>goal-driven, evidence-grounded startup funding assistant that supports the journey from grant discovery to application preparation</a:t>
            </a:r>
            <a:r>
              <a:rPr lang="en-US" dirty="0"/>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39"/>
          <p:cNvSpPr/>
          <p:nvPr/>
        </p:nvSpPr>
        <p:spPr>
          <a:xfrm>
            <a:off x="793192" y="341560"/>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None/>
            </a:pPr>
            <a:r>
              <a:rPr lang="en-US" sz="2400" b="1" i="0" u="none" strike="noStrike" cap="none">
                <a:solidFill>
                  <a:srgbClr val="000000"/>
                </a:solidFill>
                <a:latin typeface="Arial"/>
                <a:ea typeface="Arial"/>
                <a:cs typeface="Arial"/>
                <a:sym typeface="Arial"/>
              </a:rPr>
              <a:t>Token Usage </a:t>
            </a:r>
            <a:endParaRPr sz="2400" b="1" i="0" u="none" strike="noStrike" cap="none">
              <a:solidFill>
                <a:srgbClr val="000000"/>
              </a:solidFill>
              <a:latin typeface="Arial"/>
              <a:ea typeface="Arial"/>
              <a:cs typeface="Arial"/>
              <a:sym typeface="Arial"/>
            </a:endParaRPr>
          </a:p>
        </p:txBody>
      </p:sp>
      <p:sp>
        <p:nvSpPr>
          <p:cNvPr id="145" name="Google Shape;145;p39"/>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6" name="Google Shape;146;p39"/>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7" name="Google Shape;147;p39"/>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48" name="Google Shape;148;p39"/>
          <p:cNvSpPr txBox="1"/>
          <p:nvPr/>
        </p:nvSpPr>
        <p:spPr>
          <a:xfrm>
            <a:off x="897392" y="1042133"/>
            <a:ext cx="4371171"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IN" dirty="0"/>
              <a:t>Total Tokens Used: </a:t>
            </a:r>
            <a:r>
              <a:rPr lang="en-US" sz="1400" b="0" i="0" u="none" strike="noStrike" cap="none" dirty="0">
                <a:solidFill>
                  <a:srgbClr val="000000"/>
                </a:solidFill>
                <a:latin typeface="Arial"/>
                <a:ea typeface="Arial"/>
                <a:cs typeface="Arial"/>
                <a:sym typeface="Arial"/>
              </a:rPr>
              <a:t>2,18,210</a:t>
            </a:r>
            <a:endParaRPr dirty="0"/>
          </a:p>
        </p:txBody>
      </p:sp>
      <p:pic>
        <p:nvPicPr>
          <p:cNvPr id="3" name="Picture 2">
            <a:extLst>
              <a:ext uri="{FF2B5EF4-FFF2-40B4-BE49-F238E27FC236}">
                <a16:creationId xmlns:a16="http://schemas.microsoft.com/office/drawing/2014/main" id="{6EBD6F6E-9F32-446B-B65D-DF846DF42DFC}"/>
              </a:ext>
            </a:extLst>
          </p:cNvPr>
          <p:cNvPicPr>
            <a:picLocks noChangeAspect="1"/>
          </p:cNvPicPr>
          <p:nvPr/>
        </p:nvPicPr>
        <p:blipFill>
          <a:blip r:embed="rId3"/>
          <a:stretch>
            <a:fillRect/>
          </a:stretch>
        </p:blipFill>
        <p:spPr>
          <a:xfrm>
            <a:off x="2081522" y="1619111"/>
            <a:ext cx="6866052" cy="386215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40"/>
          <p:cNvSpPr txBox="1"/>
          <p:nvPr/>
        </p:nvSpPr>
        <p:spPr>
          <a:xfrm>
            <a:off x="777240" y="484632"/>
            <a:ext cx="7123176"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Novelty and Uniqueness</a:t>
            </a:r>
            <a:endParaRPr sz="2400" b="1" i="0" u="none" strike="noStrike" cap="none">
              <a:solidFill>
                <a:srgbClr val="000000"/>
              </a:solidFill>
              <a:latin typeface="Arial"/>
              <a:ea typeface="Arial"/>
              <a:cs typeface="Arial"/>
              <a:sym typeface="Arial"/>
            </a:endParaRPr>
          </a:p>
        </p:txBody>
      </p:sp>
      <p:sp>
        <p:nvSpPr>
          <p:cNvPr id="158" name="Google Shape;158;p40"/>
          <p:cNvSpPr txBox="1"/>
          <p:nvPr/>
        </p:nvSpPr>
        <p:spPr>
          <a:xfrm>
            <a:off x="777240" y="1207008"/>
            <a:ext cx="11301984" cy="4770496"/>
          </a:xfrm>
          <a:prstGeom prst="rect">
            <a:avLst/>
          </a:prstGeom>
          <a:noFill/>
          <a:ln>
            <a:noFill/>
          </a:ln>
        </p:spPr>
        <p:txBody>
          <a:bodyPr spcFirstLastPara="1" wrap="square" lIns="91425" tIns="45700" rIns="91425" bIns="45700" anchor="t" anchorCtr="0">
            <a:spAutoFit/>
          </a:bodyPr>
          <a:lstStyle/>
          <a:p>
            <a:r>
              <a:rPr lang="en-US" sz="1600" b="1" dirty="0" err="1"/>
              <a:t>GrantAI</a:t>
            </a:r>
            <a:r>
              <a:rPr lang="en-US" sz="1600" dirty="0"/>
              <a:t> stands out by combining </a:t>
            </a:r>
            <a:r>
              <a:rPr lang="en-US" sz="1600" b="1" dirty="0"/>
              <a:t>Agentic AI, Retrieval-Augmented Generation, specialized prompt engineering, and end-to-end grant workflow coordination</a:t>
            </a:r>
            <a:r>
              <a:rPr lang="en-US" sz="1600" dirty="0"/>
              <a:t> in a single startup funding platform.</a:t>
            </a:r>
          </a:p>
          <a:p>
            <a:r>
              <a:rPr lang="en-US" sz="1600" b="1" dirty="0"/>
              <a:t>Multi-Agent Grant Intelligence</a:t>
            </a:r>
            <a:r>
              <a:rPr lang="en-US" sz="1600" dirty="0"/>
              <a:t> – Five specialized AI capabilities collaborate across recommendation, eligibility, proposal generation, deadline analysis, and notification guidance.</a:t>
            </a:r>
          </a:p>
          <a:p>
            <a:r>
              <a:rPr lang="en-US" sz="1600" b="1" dirty="0"/>
              <a:t>RAG-Based Grounding</a:t>
            </a:r>
            <a:r>
              <a:rPr lang="en-US" sz="1600" dirty="0"/>
              <a:t> – Grant information is retrieved from an indexed government grant knowledge base before IBM Granite generates a response.</a:t>
            </a:r>
          </a:p>
          <a:p>
            <a:r>
              <a:rPr lang="en-US" sz="1600" b="1" dirty="0"/>
              <a:t>Startup-Aware Personalization</a:t>
            </a:r>
            <a:r>
              <a:rPr lang="en-US" sz="1600" dirty="0"/>
              <a:t> – Recommendations and analysis consider startup sector, development stage, location, funding requirement, and project context.</a:t>
            </a:r>
          </a:p>
          <a:p>
            <a:r>
              <a:rPr lang="en-US" sz="1600" b="1" dirty="0"/>
              <a:t>Evidence-Aware Eligibility Analysis</a:t>
            </a:r>
            <a:r>
              <a:rPr lang="en-US" sz="1600" dirty="0"/>
              <a:t> – The system distinguishes supported eligibility matches from missing or unconfirmed information instead of automatically declaring a startup eligible.</a:t>
            </a:r>
          </a:p>
          <a:p>
            <a:r>
              <a:rPr lang="en-US" sz="1600" b="1" dirty="0"/>
              <a:t>Safe Deadline Analysis</a:t>
            </a:r>
            <a:r>
              <a:rPr lang="en-US" sz="1600" dirty="0"/>
              <a:t> – </a:t>
            </a:r>
            <a:r>
              <a:rPr lang="en-US" sz="1600" dirty="0" err="1"/>
              <a:t>GrantAI</a:t>
            </a:r>
            <a:r>
              <a:rPr lang="en-US" sz="1600" dirty="0"/>
              <a:t> explicitly prevents invented deadlines, unsupported days-remaining calculations, and false claims that applications are currently open.</a:t>
            </a:r>
          </a:p>
          <a:p>
            <a:r>
              <a:rPr lang="en-US" sz="1600" b="1" dirty="0"/>
              <a:t>Grounded Proposal Assistance</a:t>
            </a:r>
            <a:r>
              <a:rPr lang="en-US" sz="1600" dirty="0"/>
              <a:t> – Proposal drafts use supplied startup facts and retrieved grant evidence while avoiding fabricated achievements, partnerships, revenue, or approvals.</a:t>
            </a:r>
          </a:p>
          <a:p>
            <a:r>
              <a:rPr lang="en-US" sz="1600" b="1" dirty="0"/>
              <a:t>Unified Grant Journey</a:t>
            </a:r>
            <a:r>
              <a:rPr lang="en-US" sz="1600" dirty="0"/>
              <a:t> – A single founder request can trigger multiple specialized capabilities and return one structured funding guidance response.</a:t>
            </a:r>
          </a:p>
          <a:p>
            <a:r>
              <a:rPr lang="en-US" sz="1600" b="1" dirty="0"/>
              <a:t>Source Transparency</a:t>
            </a:r>
            <a:r>
              <a:rPr lang="en-US" sz="1600" dirty="0"/>
              <a:t> – Retrieval-derived source metadata is preserved to improve traceability and trust.</a:t>
            </a:r>
          </a:p>
          <a:p>
            <a:r>
              <a:rPr lang="en-US" sz="1600" dirty="0"/>
              <a:t>This makes </a:t>
            </a:r>
            <a:r>
              <a:rPr lang="en-US" sz="1600" dirty="0" err="1"/>
              <a:t>GrantAI</a:t>
            </a:r>
            <a:r>
              <a:rPr lang="en-US" sz="1600" dirty="0"/>
              <a:t> more than a grant search engine or generic chatbot—it is an </a:t>
            </a:r>
            <a:r>
              <a:rPr lang="en-US" sz="1600" b="1" dirty="0"/>
              <a:t>evidence-grounded Agentic AI platform for startup funding discovery and application preparation</a:t>
            </a:r>
            <a:r>
              <a:rPr lang="en-US" sz="1600" dirty="0"/>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41"/>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dirty="0">
                <a:solidFill>
                  <a:srgbClr val="000000"/>
                </a:solidFill>
                <a:latin typeface="Arial"/>
                <a:ea typeface="Arial"/>
                <a:cs typeface="Arial"/>
                <a:sym typeface="Arial"/>
              </a:rPr>
              <a:t>GitHub Repository</a:t>
            </a:r>
            <a:endParaRPr sz="2400" b="1" i="0" u="none" strike="noStrike" cap="none" dirty="0">
              <a:solidFill>
                <a:srgbClr val="000000"/>
              </a:solidFill>
              <a:latin typeface="Arial"/>
              <a:ea typeface="Arial"/>
              <a:cs typeface="Arial"/>
              <a:sym typeface="Arial"/>
            </a:endParaRPr>
          </a:p>
        </p:txBody>
      </p:sp>
      <p:sp>
        <p:nvSpPr>
          <p:cNvPr id="164" name="Google Shape;164;p41"/>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lang="en-US" sz="2400" b="0" i="0" u="none" strike="noStrike" cap="none" dirty="0">
              <a:solidFill>
                <a:srgbClr val="2B3541"/>
              </a:solidFill>
              <a:latin typeface="Times New Roman"/>
              <a:ea typeface="Times New Roman"/>
              <a:cs typeface="Times New Roman"/>
              <a:sym typeface="Times New Roman"/>
            </a:endParaRPr>
          </a:p>
          <a:p>
            <a:pPr marL="0" marR="0" lvl="0" indent="0" algn="l" rtl="0">
              <a:lnSpc>
                <a:spcPct val="162162"/>
              </a:lnSpc>
              <a:spcBef>
                <a:spcPts val="0"/>
              </a:spcBef>
              <a:spcAft>
                <a:spcPts val="0"/>
              </a:spcAft>
              <a:buClr>
                <a:srgbClr val="2B3541"/>
              </a:buClr>
              <a:buSzPts val="1850"/>
              <a:buFont typeface="Times New Roman"/>
              <a:buNone/>
            </a:pPr>
            <a:r>
              <a:rPr lang="en-US" sz="2400" b="0" i="0" u="none" strike="noStrike" cap="none" dirty="0">
                <a:solidFill>
                  <a:srgbClr val="2B3541"/>
                </a:solidFill>
                <a:latin typeface="Times New Roman"/>
                <a:ea typeface="Times New Roman"/>
                <a:cs typeface="Times New Roman"/>
                <a:sym typeface="Times New Roman"/>
              </a:rPr>
              <a:t>· </a:t>
            </a:r>
            <a:r>
              <a:rPr lang="en-US" sz="2400" b="0" i="0" u="none" strike="noStrike" cap="none" dirty="0" err="1">
                <a:solidFill>
                  <a:srgbClr val="2B3541"/>
                </a:solidFill>
                <a:latin typeface="Times New Roman"/>
                <a:ea typeface="Times New Roman"/>
                <a:cs typeface="Times New Roman"/>
                <a:sym typeface="Times New Roman"/>
              </a:rPr>
              <a:t>Github</a:t>
            </a:r>
            <a:r>
              <a:rPr lang="en-US" sz="2400" b="0" i="0" u="none" strike="noStrike" cap="none" dirty="0">
                <a:solidFill>
                  <a:srgbClr val="2B3541"/>
                </a:solidFill>
                <a:latin typeface="Times New Roman"/>
                <a:ea typeface="Times New Roman"/>
                <a:cs typeface="Times New Roman"/>
                <a:sym typeface="Times New Roman"/>
              </a:rPr>
              <a:t> URL –  </a:t>
            </a:r>
            <a:r>
              <a:rPr lang="en-US" sz="2400" b="0" i="0" u="none" strike="noStrike" cap="none" dirty="0">
                <a:solidFill>
                  <a:srgbClr val="2B3541"/>
                </a:solidFill>
                <a:latin typeface="Times New Roman"/>
                <a:ea typeface="Times New Roman"/>
                <a:cs typeface="Times New Roman"/>
                <a:sym typeface="Times New Roman"/>
                <a:hlinkClick r:id="rId3"/>
              </a:rPr>
              <a:t>https://github.com/Ayush-Joshi1/GrantAI</a:t>
            </a:r>
            <a:endParaRPr sz="2400" dirty="0"/>
          </a:p>
        </p:txBody>
      </p:sp>
      <p:sp>
        <p:nvSpPr>
          <p:cNvPr id="165" name="Google Shape;165;p41"/>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6" name="Google Shape;166;p41"/>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67" name="Google Shape;167;p41"/>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42"/>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i="0" u="none" strike="noStrike" cap="none">
                <a:solidFill>
                  <a:srgbClr val="000000"/>
                </a:solidFill>
                <a:latin typeface="Arial"/>
                <a:ea typeface="Arial"/>
                <a:cs typeface="Arial"/>
                <a:sym typeface="Arial"/>
              </a:rPr>
              <a:t>Future Scope </a:t>
            </a:r>
            <a:endParaRPr sz="2400" b="1" i="0" u="none" strike="noStrike" cap="none">
              <a:solidFill>
                <a:srgbClr val="000000"/>
              </a:solidFill>
              <a:latin typeface="Arial"/>
              <a:ea typeface="Arial"/>
              <a:cs typeface="Arial"/>
              <a:sym typeface="Arial"/>
            </a:endParaRPr>
          </a:p>
        </p:txBody>
      </p:sp>
      <p:sp>
        <p:nvSpPr>
          <p:cNvPr id="173" name="Google Shape;173;p42"/>
          <p:cNvSpPr/>
          <p:nvPr/>
        </p:nvSpPr>
        <p:spPr>
          <a:xfrm>
            <a:off x="1218724" y="1221715"/>
            <a:ext cx="9867198" cy="5141378"/>
          </a:xfrm>
          <a:prstGeom prst="rect">
            <a:avLst/>
          </a:prstGeom>
          <a:noFill/>
          <a:ln>
            <a:noFill/>
          </a:ln>
        </p:spPr>
        <p:txBody>
          <a:bodyPr spcFirstLastPara="1" wrap="square" lIns="0" tIns="0" rIns="0" bIns="0" anchor="t" anchorCtr="0">
            <a:noAutofit/>
          </a:bodyPr>
          <a:lstStyle/>
          <a:p>
            <a:r>
              <a:rPr lang="en-US" sz="1600" b="1" dirty="0"/>
              <a:t>1. Real-Time Government Grant Aggregation</a:t>
            </a:r>
            <a:endParaRPr lang="en-US" sz="1600" dirty="0"/>
          </a:p>
          <a:p>
            <a:r>
              <a:rPr lang="en-US" sz="1600" dirty="0" err="1"/>
              <a:t>GrantAI</a:t>
            </a:r>
            <a:r>
              <a:rPr lang="en-US" sz="1600" dirty="0"/>
              <a:t> can be extended with authorized data ingestion pipelines to periodically collect and update grant information from official government portals. This would allow the knowledge base to reflect new schemes, updated guidelines, and application-window changes more efficiently.</a:t>
            </a:r>
          </a:p>
          <a:p>
            <a:r>
              <a:rPr lang="en-US" sz="1600" b="1" dirty="0"/>
              <a:t>2. Automated Application Readiness Workspace</a:t>
            </a:r>
            <a:endParaRPr lang="en-US" sz="1600" dirty="0"/>
          </a:p>
          <a:p>
            <a:r>
              <a:rPr lang="en-US" sz="1600" dirty="0"/>
              <a:t>A startup-specific workspace can track required documents, eligibility gaps, proposal completion, budget preparation, and verified deadlines for selected grants.</a:t>
            </a:r>
          </a:p>
          <a:p>
            <a:r>
              <a:rPr lang="en-US" sz="1600" b="1" dirty="0"/>
              <a:t>3. Multilingual Grant Assistance</a:t>
            </a:r>
            <a:endParaRPr lang="en-US" sz="1600" dirty="0"/>
          </a:p>
          <a:p>
            <a:r>
              <a:rPr lang="en-US" sz="1600" dirty="0"/>
              <a:t>IBM Granite-powered multilingual interaction can improve access for startup founders who prefer regional Indian languages when understanding complex grant guidelines.</a:t>
            </a:r>
          </a:p>
          <a:p>
            <a:r>
              <a:rPr lang="en-US" sz="1600" b="1" dirty="0"/>
              <a:t>4. Human-in-the-Loop Proposal Review</a:t>
            </a:r>
            <a:endParaRPr lang="en-US" sz="1600" dirty="0"/>
          </a:p>
          <a:p>
            <a:r>
              <a:rPr lang="en-US" sz="1600" dirty="0"/>
              <a:t>Future versions can include mentor, incubator, or funding-expert review workflows before final application submission, preserving human validation for critical grant content.</a:t>
            </a:r>
          </a:p>
          <a:p>
            <a:r>
              <a:rPr lang="en-US" sz="1600" b="1" dirty="0"/>
              <a:t>5. Advanced Grant Matching and Feedback Learning</a:t>
            </a:r>
            <a:endParaRPr lang="en-US" sz="1600" dirty="0"/>
          </a:p>
          <a:p>
            <a:r>
              <a:rPr lang="en-US" sz="1600" dirty="0" err="1"/>
              <a:t>GrantAI</a:t>
            </a:r>
            <a:r>
              <a:rPr lang="en-US" sz="1600" dirty="0"/>
              <a:t> can improve recommendation ranking using founder feedback, saved grants, application outcomes, and scheme relevance signals.</a:t>
            </a:r>
          </a:p>
          <a:p>
            <a:r>
              <a:rPr lang="en-US" sz="1600" b="1" dirty="0"/>
              <a:t>6. Secure Enterprise and Incubator Deployment</a:t>
            </a:r>
            <a:endParaRPr lang="en-US" sz="1600" dirty="0"/>
          </a:p>
          <a:p>
            <a:r>
              <a:rPr lang="en-US" sz="1600" dirty="0"/>
              <a:t>The platform can be extended for startup incubators, universities, accelerators, and entrepreneurship cells to support multiple startups through a governed funding discovery workflow.</a:t>
            </a:r>
          </a:p>
        </p:txBody>
      </p:sp>
      <p:sp>
        <p:nvSpPr>
          <p:cNvPr id="174" name="Google Shape;174;p42"/>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5" name="Google Shape;175;p42"/>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176" name="Google Shape;176;p42"/>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2" name="Google Shape;182;p43"/>
          <p:cNvSpPr txBox="1"/>
          <p:nvPr/>
        </p:nvSpPr>
        <p:spPr>
          <a:xfrm>
            <a:off x="327949" y="207380"/>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7" name="Picture 6">
            <a:extLst>
              <a:ext uri="{FF2B5EF4-FFF2-40B4-BE49-F238E27FC236}">
                <a16:creationId xmlns:a16="http://schemas.microsoft.com/office/drawing/2014/main" id="{E1687F60-C67C-43DF-AFF4-63440A31864D}"/>
              </a:ext>
            </a:extLst>
          </p:cNvPr>
          <p:cNvPicPr>
            <a:picLocks noChangeAspect="1"/>
          </p:cNvPicPr>
          <p:nvPr/>
        </p:nvPicPr>
        <p:blipFill>
          <a:blip r:embed="rId3"/>
          <a:stretch>
            <a:fillRect/>
          </a:stretch>
        </p:blipFill>
        <p:spPr>
          <a:xfrm>
            <a:off x="552048" y="1449709"/>
            <a:ext cx="5344999" cy="3958582"/>
          </a:xfrm>
          <a:prstGeom prst="rect">
            <a:avLst/>
          </a:prstGeom>
        </p:spPr>
      </p:pic>
      <p:pic>
        <p:nvPicPr>
          <p:cNvPr id="9" name="Picture 8">
            <a:extLst>
              <a:ext uri="{FF2B5EF4-FFF2-40B4-BE49-F238E27FC236}">
                <a16:creationId xmlns:a16="http://schemas.microsoft.com/office/drawing/2014/main" id="{89BECFCA-48B9-44DB-972C-03081DAAFFCC}"/>
              </a:ext>
            </a:extLst>
          </p:cNvPr>
          <p:cNvPicPr>
            <a:picLocks noChangeAspect="1"/>
          </p:cNvPicPr>
          <p:nvPr/>
        </p:nvPicPr>
        <p:blipFill>
          <a:blip r:embed="rId4"/>
          <a:stretch>
            <a:fillRect/>
          </a:stretch>
        </p:blipFill>
        <p:spPr>
          <a:xfrm>
            <a:off x="6423949" y="1395578"/>
            <a:ext cx="5216003" cy="401271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182;p43">
            <a:extLst>
              <a:ext uri="{FF2B5EF4-FFF2-40B4-BE49-F238E27FC236}">
                <a16:creationId xmlns:a16="http://schemas.microsoft.com/office/drawing/2014/main" id="{3D45BE0E-5FD5-4DE7-944C-C631FE847247}"/>
              </a:ext>
            </a:extLst>
          </p:cNvPr>
          <p:cNvSpPr txBox="1"/>
          <p:nvPr/>
        </p:nvSpPr>
        <p:spPr>
          <a:xfrm>
            <a:off x="327949" y="207380"/>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9" name="Picture 8">
            <a:extLst>
              <a:ext uri="{FF2B5EF4-FFF2-40B4-BE49-F238E27FC236}">
                <a16:creationId xmlns:a16="http://schemas.microsoft.com/office/drawing/2014/main" id="{F6B6641A-572C-4909-A42F-15D3EACEE480}"/>
              </a:ext>
            </a:extLst>
          </p:cNvPr>
          <p:cNvPicPr>
            <a:picLocks noChangeAspect="1"/>
          </p:cNvPicPr>
          <p:nvPr/>
        </p:nvPicPr>
        <p:blipFill>
          <a:blip r:embed="rId2"/>
          <a:stretch>
            <a:fillRect/>
          </a:stretch>
        </p:blipFill>
        <p:spPr>
          <a:xfrm>
            <a:off x="327949" y="777211"/>
            <a:ext cx="5144305" cy="3194478"/>
          </a:xfrm>
          <a:prstGeom prst="rect">
            <a:avLst/>
          </a:prstGeom>
        </p:spPr>
      </p:pic>
      <p:pic>
        <p:nvPicPr>
          <p:cNvPr id="11" name="Picture 10">
            <a:extLst>
              <a:ext uri="{FF2B5EF4-FFF2-40B4-BE49-F238E27FC236}">
                <a16:creationId xmlns:a16="http://schemas.microsoft.com/office/drawing/2014/main" id="{E3C9858E-7316-4E2B-A313-F294E1D0CDC2}"/>
              </a:ext>
            </a:extLst>
          </p:cNvPr>
          <p:cNvPicPr>
            <a:picLocks noChangeAspect="1"/>
          </p:cNvPicPr>
          <p:nvPr/>
        </p:nvPicPr>
        <p:blipFill>
          <a:blip r:embed="rId3"/>
          <a:stretch>
            <a:fillRect/>
          </a:stretch>
        </p:blipFill>
        <p:spPr>
          <a:xfrm>
            <a:off x="6320455" y="3563212"/>
            <a:ext cx="4850210" cy="2966444"/>
          </a:xfrm>
          <a:prstGeom prst="rect">
            <a:avLst/>
          </a:prstGeom>
        </p:spPr>
      </p:pic>
      <p:pic>
        <p:nvPicPr>
          <p:cNvPr id="13" name="Picture 12">
            <a:extLst>
              <a:ext uri="{FF2B5EF4-FFF2-40B4-BE49-F238E27FC236}">
                <a16:creationId xmlns:a16="http://schemas.microsoft.com/office/drawing/2014/main" id="{19F53A97-6F88-49BF-B079-63294C358374}"/>
              </a:ext>
            </a:extLst>
          </p:cNvPr>
          <p:cNvPicPr>
            <a:picLocks noChangeAspect="1"/>
          </p:cNvPicPr>
          <p:nvPr/>
        </p:nvPicPr>
        <p:blipFill>
          <a:blip r:embed="rId4"/>
          <a:stretch>
            <a:fillRect/>
          </a:stretch>
        </p:blipFill>
        <p:spPr>
          <a:xfrm>
            <a:off x="6096000" y="207380"/>
            <a:ext cx="5299120" cy="3242912"/>
          </a:xfrm>
          <a:prstGeom prst="rect">
            <a:avLst/>
          </a:prstGeom>
        </p:spPr>
      </p:pic>
    </p:spTree>
    <p:extLst>
      <p:ext uri="{BB962C8B-B14F-4D97-AF65-F5344CB8AC3E}">
        <p14:creationId xmlns:p14="http://schemas.microsoft.com/office/powerpoint/2010/main" val="37855865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9" name="Google Shape;189;p44"/>
          <p:cNvSpPr txBox="1"/>
          <p:nvPr/>
        </p:nvSpPr>
        <p:spPr>
          <a:xfrm>
            <a:off x="176696" y="226391"/>
            <a:ext cx="6096000" cy="67710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1" i="0" u="none" strike="noStrike" cap="none">
                <a:solidFill>
                  <a:srgbClr val="000000"/>
                </a:solidFill>
                <a:latin typeface="Arial"/>
                <a:ea typeface="Arial"/>
                <a:cs typeface="Arial"/>
                <a:sym typeface="Arial"/>
              </a:rPr>
              <a:t>Certificates Earned:</a:t>
            </a:r>
            <a:r>
              <a:rPr lang="en-US" sz="2400" b="0" i="0" u="none" strike="noStrike" cap="none">
                <a:solidFill>
                  <a:srgbClr val="000000"/>
                </a:solidFill>
                <a:latin typeface="Arial"/>
                <a:ea typeface="Arial"/>
                <a:cs typeface="Arial"/>
                <a:sym typeface="Arial"/>
              </a:rPr>
              <a:t>​</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90" name="Google Shape;190;p44"/>
          <p:cNvSpPr txBox="1"/>
          <p:nvPr/>
        </p:nvSpPr>
        <p:spPr>
          <a:xfrm>
            <a:off x="496843" y="800470"/>
            <a:ext cx="5437681"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1" i="0" u="none" strike="noStrike" cap="none">
                <a:solidFill>
                  <a:srgbClr val="000000"/>
                </a:solidFill>
                <a:latin typeface="Arial"/>
                <a:ea typeface="Arial"/>
                <a:cs typeface="Arial"/>
                <a:sym typeface="Arial"/>
              </a:rPr>
              <a:t>Add your IBM BOB Certificate</a:t>
            </a:r>
            <a:endParaRPr/>
          </a:p>
        </p:txBody>
      </p:sp>
      <p:pic>
        <p:nvPicPr>
          <p:cNvPr id="3" name="Picture 2">
            <a:extLst>
              <a:ext uri="{FF2B5EF4-FFF2-40B4-BE49-F238E27FC236}">
                <a16:creationId xmlns:a16="http://schemas.microsoft.com/office/drawing/2014/main" id="{DC1575D9-6B75-4C96-96B9-8B10A9B000D5}"/>
              </a:ext>
            </a:extLst>
          </p:cNvPr>
          <p:cNvPicPr>
            <a:picLocks noChangeAspect="1"/>
          </p:cNvPicPr>
          <p:nvPr/>
        </p:nvPicPr>
        <p:blipFill>
          <a:blip r:embed="rId3"/>
          <a:stretch>
            <a:fillRect/>
          </a:stretch>
        </p:blipFill>
        <p:spPr>
          <a:xfrm>
            <a:off x="1920655" y="1634212"/>
            <a:ext cx="7880796" cy="553958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2" name="Title 1">
            <a:extLst>
              <a:ext uri="{FF2B5EF4-FFF2-40B4-BE49-F238E27FC236}">
                <a16:creationId xmlns:a16="http://schemas.microsoft.com/office/drawing/2014/main" id="{DD3990C8-83FE-47FA-B0D9-5F8C37888BB9}"/>
              </a:ext>
            </a:extLst>
          </p:cNvPr>
          <p:cNvSpPr>
            <a:spLocks noGrp="1"/>
          </p:cNvSpPr>
          <p:nvPr>
            <p:ph type="title"/>
          </p:nvPr>
        </p:nvSpPr>
        <p:spPr>
          <a:xfrm>
            <a:off x="998456" y="2177592"/>
            <a:ext cx="10515600" cy="2350564"/>
          </a:xfrm>
        </p:spPr>
        <p:txBody>
          <a:bodyPr>
            <a:normAutofit/>
          </a:bodyPr>
          <a:lstStyle/>
          <a:p>
            <a:r>
              <a:rPr lang="en-IN" sz="7200" dirty="0"/>
              <a:t>			Thank You! </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88</TotalTime>
  <Words>1714</Words>
  <Application>Microsoft Office PowerPoint</Application>
  <PresentationFormat>Widescreen</PresentationFormat>
  <Paragraphs>116</Paragraphs>
  <Slides>17</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Application Screenshots: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IBM University Engagement Project Submission</dc:title>
  <dc:creator>Manda Anirudh</dc:creator>
  <cp:lastModifiedBy>Ayush Joshi</cp:lastModifiedBy>
  <cp:revision>10</cp:revision>
  <dcterms:created xsi:type="dcterms:W3CDTF">2025-07-08T05:06:56Z</dcterms:created>
  <dcterms:modified xsi:type="dcterms:W3CDTF">2026-07-13T19:34:37Z</dcterms:modified>
</cp:coreProperties>
</file>